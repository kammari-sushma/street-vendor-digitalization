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83" r:id="rId2"/>
    <p:sldId id="257" r:id="rId3"/>
    <p:sldId id="282" r:id="rId4"/>
    <p:sldId id="284" r:id="rId5"/>
    <p:sldId id="285" r:id="rId6"/>
    <p:sldId id="262" r:id="rId7"/>
    <p:sldId id="264" r:id="rId8"/>
    <p:sldId id="278" r:id="rId9"/>
    <p:sldId id="286" r:id="rId10"/>
    <p:sldId id="280" r:id="rId11"/>
    <p:sldId id="27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0" d="100"/>
          <a:sy n="80" d="100"/>
        </p:scale>
        <p:origin x="75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21275451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936452">
                  <a:extLst>
                    <a:ext uri="{9D8B030D-6E8A-4147-A177-3AD203B41FA5}">
                      <a16:colId xmlns:a16="http://schemas.microsoft.com/office/drawing/2014/main" val="20003"/>
                    </a:ext>
                  </a:extLst>
                </a:gridCol>
                <a:gridCol w="1950296">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err="1"/>
                        <a:t>Kammari</a:t>
                      </a:r>
                      <a:r>
                        <a:rPr lang="en-IN" dirty="0"/>
                        <a:t> Sushma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sushmaprinceton525@gmail.com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9182679945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Conversational AI &amp; Retrieval-Augmented Generation(RAG)</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Street Vendor Digitalization Agent</a:t>
            </a:r>
            <a:endParaRPr lang="en-IN" sz="2400" b="1" dirty="0">
              <a:highlight>
                <a:srgbClr val="FFFF00"/>
              </a:highlight>
            </a:endParaRPr>
          </a:p>
        </p:txBody>
      </p:sp>
      <p:pic>
        <p:nvPicPr>
          <p:cNvPr id="3" name="Picture 2">
            <a:extLst>
              <a:ext uri="{FF2B5EF4-FFF2-40B4-BE49-F238E27FC236}">
                <a16:creationId xmlns:a16="http://schemas.microsoft.com/office/drawing/2014/main" id="{C8D1ACC2-3F9D-5E19-21FD-D1F9EE7589CB}"/>
              </a:ext>
            </a:extLst>
          </p:cNvPr>
          <p:cNvPicPr>
            <a:picLocks noChangeAspect="1"/>
          </p:cNvPicPr>
          <p:nvPr/>
        </p:nvPicPr>
        <p:blipFill>
          <a:blip r:embed="rId3"/>
          <a:srcRect l="2274" t="5000" r="3529" b="4305"/>
          <a:stretch>
            <a:fillRect/>
          </a:stretch>
        </p:blipFill>
        <p:spPr>
          <a:xfrm>
            <a:off x="4055947" y="3645069"/>
            <a:ext cx="759577" cy="9795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909310"/>
          </a:xfrm>
          <a:prstGeom prst="rect">
            <a:avLst/>
          </a:prstGeom>
          <a:noFill/>
        </p:spPr>
        <p:txBody>
          <a:bodyPr wrap="square" rtlCol="0">
            <a:spAutoFit/>
          </a:bodyPr>
          <a:lstStyle/>
          <a:p>
            <a:pPr fontAlgn="base"/>
            <a:r>
              <a:rPr lang="en-US" b="1" dirty="0"/>
              <a:t>Problem Statement : Street Vendor Digitalization Agent</a:t>
            </a:r>
            <a:endParaRPr lang="en-US" dirty="0"/>
          </a:p>
          <a:p>
            <a:pPr fontAlgn="base"/>
            <a:endParaRPr lang="en-US" b="1" dirty="0"/>
          </a:p>
          <a:p>
            <a:pPr fontAlgn="base"/>
            <a:r>
              <a:rPr lang="en-US" b="1" dirty="0"/>
              <a:t>The Challenge</a:t>
            </a:r>
            <a:r>
              <a:rPr lang="en-US" dirty="0"/>
              <a:t> </a:t>
            </a:r>
          </a:p>
          <a:p>
            <a:pPr fontAlgn="base"/>
            <a:r>
              <a:rPr lang="en-US" dirty="0"/>
              <a:t>A Street Vendor Digitalization Agent, powered by RAG (Retrieval-Augmented Generation), helps local hawkers and micro-entrepreneurs become digitally visible by generating business profiles, UPI setup guides, local SEO strategies, and customer engagement tips. </a:t>
            </a:r>
          </a:p>
          <a:p>
            <a:pPr fontAlgn="base"/>
            <a:endParaRPr lang="en-US" b="1" dirty="0"/>
          </a:p>
          <a:p>
            <a:pPr fontAlgn="base"/>
            <a:r>
              <a:rPr lang="en-US" b="1" dirty="0"/>
              <a:t>The Objective</a:t>
            </a:r>
            <a:r>
              <a:rPr lang="en-US" dirty="0"/>
              <a:t> </a:t>
            </a:r>
          </a:p>
          <a:p>
            <a:pPr fontAlgn="base"/>
            <a:r>
              <a:rPr lang="en-US" dirty="0"/>
              <a:t>Build a Street Vendor Digitalization Agent that delivers conversational, step-by-step guidance and technical empowerment for informal merchants, hawkers, and local micro-entrepreneurs. The solution should:</a:t>
            </a:r>
          </a:p>
          <a:p>
            <a:pPr marL="285750" indent="-285750" fontAlgn="base">
              <a:buFont typeface="Arial" panose="020B0604020202020204" pitchFamily="34" charset="0"/>
              <a:buChar char="•"/>
            </a:pPr>
            <a:r>
              <a:rPr lang="en-US" b="1" dirty="0"/>
              <a:t>Government Scheme Accessibility </a:t>
            </a:r>
            <a:r>
              <a:rPr lang="en-US" dirty="0"/>
              <a:t>– Simplify complex eligibility criteria and application pathways for micro-credit initiatives like the PM </a:t>
            </a:r>
            <a:r>
              <a:rPr lang="en-US" dirty="0" err="1"/>
              <a:t>SVANidhi</a:t>
            </a:r>
            <a:r>
              <a:rPr lang="en-US" dirty="0"/>
              <a:t> scheme.</a:t>
            </a:r>
          </a:p>
          <a:p>
            <a:pPr marL="285750" indent="-285750" fontAlgn="base">
              <a:buFont typeface="Arial" panose="020B0604020202020204" pitchFamily="34" charset="0"/>
              <a:buChar char="•"/>
            </a:pPr>
            <a:r>
              <a:rPr lang="en-US" b="1" dirty="0"/>
              <a:t>Fintech Onboarding Guidance </a:t>
            </a:r>
            <a:r>
              <a:rPr lang="en-US" dirty="0"/>
              <a:t>– Provide clear, jargon-free walk-throughs for establishing merchant UPI accounts, navigating e-KYC verification, and deploying QR codes.</a:t>
            </a:r>
          </a:p>
          <a:p>
            <a:pPr marL="285750" indent="-285750" fontAlgn="base">
              <a:buFont typeface="Arial" panose="020B0604020202020204" pitchFamily="34" charset="0"/>
              <a:buChar char="•"/>
            </a:pPr>
            <a:r>
              <a:rPr lang="en-US" b="1" dirty="0"/>
              <a:t>Hyperlocal SEO Integration </a:t>
            </a:r>
            <a:r>
              <a:rPr lang="en-US" dirty="0"/>
              <a:t>– Instruct non-technical vendors on precise geolocation techniques to pin their physical stalls on digital mapping services and drive discovery.</a:t>
            </a:r>
          </a:p>
          <a:p>
            <a:pPr marL="285750" indent="-285750" fontAlgn="base">
              <a:buFont typeface="Arial" panose="020B0604020202020204" pitchFamily="34" charset="0"/>
              <a:buChar char="•"/>
            </a:pPr>
            <a:r>
              <a:rPr lang="en-US" b="1" dirty="0"/>
              <a:t>Empathetic Tone Guardrails </a:t>
            </a:r>
            <a:r>
              <a:rPr lang="en-US" dirty="0"/>
              <a:t>– Enforce a highly accessible, supportive peer-to-peer conversational style that eliminates confusing corporate or technological terminology.</a:t>
            </a:r>
          </a:p>
          <a:p>
            <a:pPr marL="285750" indent="-285750" fontAlgn="base">
              <a:buFont typeface="Arial" panose="020B0604020202020204" pitchFamily="34" charset="0"/>
              <a:buChar char="•"/>
            </a:pPr>
            <a:r>
              <a:rPr lang="en-US" b="1" dirty="0"/>
              <a:t>Multi-Agent Architecture Module</a:t>
            </a:r>
            <a:r>
              <a:rPr lang="en-US" dirty="0"/>
              <a:t> –</a:t>
            </a:r>
          </a:p>
          <a:p>
            <a:pPr marL="342900" lvl="5" indent="-342900" fontAlgn="base">
              <a:buFont typeface="+mj-lt"/>
              <a:buAutoNum type="arabicPeriod"/>
            </a:pPr>
            <a:r>
              <a:rPr lang="en-US" dirty="0"/>
              <a:t>Scheme Navigator Agent (extracts government micro-loan policy frameworks and requirements)</a:t>
            </a:r>
          </a:p>
          <a:p>
            <a:pPr marL="342900" lvl="5" indent="-342900" fontAlgn="base">
              <a:buFont typeface="+mj-lt"/>
              <a:buAutoNum type="arabicPeriod"/>
            </a:pPr>
            <a:r>
              <a:rPr lang="en-US" dirty="0"/>
              <a:t>Digital Payment </a:t>
            </a:r>
            <a:r>
              <a:rPr lang="en-US" dirty="0" err="1"/>
              <a:t>Onboarder</a:t>
            </a:r>
            <a:r>
              <a:rPr lang="en-US" dirty="0"/>
              <a:t> Agent (manages fintech registration rules and standee configuration steps)</a:t>
            </a:r>
          </a:p>
          <a:p>
            <a:pPr marL="342900" lvl="5" indent="-342900" fontAlgn="base">
              <a:buFont typeface="+mj-lt"/>
              <a:buAutoNum type="arabicPeriod"/>
            </a:pPr>
            <a:r>
              <a:rPr lang="en-US" dirty="0"/>
              <a:t>Hyperlocal Geolocation Agent (guides map-pinning strategies and regional search optimizations)</a:t>
            </a:r>
          </a:p>
          <a:p>
            <a:pPr marL="342900" lvl="5" indent="-342900" fontAlgn="base">
              <a:buFont typeface="+mj-lt"/>
              <a:buAutoNum type="arabicPeriod"/>
            </a:pPr>
            <a:r>
              <a:rPr lang="en-US" dirty="0"/>
              <a:t>Dialogue Controller Agent (reformats dense outputs into simplified, mobile-friendly checklists)</a:t>
            </a:r>
          </a:p>
          <a:p>
            <a:pPr marL="285750" indent="-285750" fontAlgn="base">
              <a:buFont typeface="Arial" panose="020B0604020202020204" pitchFamily="34" charset="0"/>
              <a:buChar char="•"/>
            </a:pPr>
            <a:r>
              <a:rPr lang="en-US" b="1" dirty="0"/>
              <a:t>Web Integration Window </a:t>
            </a:r>
            <a:r>
              <a:rPr lang="en-US" dirty="0"/>
              <a:t>– Provide an open, unauthenticated web chat interface optimized for low-friction access directly via smartphone viewports.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- 29</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246769"/>
          </a:xfrm>
          <a:prstGeom prst="rect">
            <a:avLst/>
          </a:prstGeom>
          <a:noFill/>
        </p:spPr>
        <p:txBody>
          <a:bodyPr wrap="square" rtlCol="0">
            <a:spAutoFit/>
          </a:bodyPr>
          <a:lstStyle/>
          <a:p>
            <a:pPr fontAlgn="base"/>
            <a:endParaRPr lang="en-US" b="1" dirty="0"/>
          </a:p>
          <a:p>
            <a:pPr fontAlgn="base"/>
            <a:r>
              <a:rPr lang="en-IN" b="1" dirty="0"/>
              <a:t>Tech Stack</a:t>
            </a:r>
            <a:endParaRPr lang="en-IN" dirty="0"/>
          </a:p>
          <a:p>
            <a:pPr fontAlgn="base"/>
            <a:r>
              <a:rPr lang="en-IN" dirty="0"/>
              <a:t>I used the following: </a:t>
            </a:r>
          </a:p>
          <a:p>
            <a:pPr marL="285750" indent="-285750" fontAlgn="base">
              <a:buFont typeface="Arial" panose="020B0604020202020204" pitchFamily="34" charset="0"/>
              <a:buChar char="•"/>
            </a:pPr>
            <a:r>
              <a:rPr lang="en-IN" dirty="0"/>
              <a:t>IBM Orchestrate + IBM watsonx.ai + Granite Models </a:t>
            </a:r>
          </a:p>
          <a:p>
            <a:pPr marL="285750" indent="-285750" fontAlgn="base">
              <a:buFont typeface="Arial" panose="020B0604020202020204" pitchFamily="34" charset="0"/>
              <a:buChar char="•"/>
            </a:pPr>
            <a:r>
              <a:rPr lang="en-IN" dirty="0"/>
              <a:t>IBM Cloud Agentic Lab with IBM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pPr fontAlgn="base"/>
            <a:endParaRPr lang="en-US" dirty="0"/>
          </a:p>
          <a:p>
            <a:pPr fontAlgn="base"/>
            <a:r>
              <a:rPr lang="en-US" b="1" dirty="0"/>
              <a:t>Proposed Solution</a:t>
            </a:r>
            <a:r>
              <a:rPr lang="en-US" dirty="0"/>
              <a:t>: Street Vendor Digitalization Agent</a:t>
            </a:r>
          </a:p>
          <a:p>
            <a:pPr fontAlgn="base"/>
            <a:r>
              <a:rPr lang="en-US" dirty="0"/>
              <a:t>The proposed solution is a </a:t>
            </a:r>
            <a:r>
              <a:rPr lang="en-US" b="1" dirty="0"/>
              <a:t>multi-agent AI-powered digital assistant </a:t>
            </a:r>
            <a:r>
              <a:rPr lang="en-US" dirty="0"/>
              <a:t>built using </a:t>
            </a:r>
            <a:r>
              <a:rPr lang="en-US" b="1" dirty="0"/>
              <a:t>IBM </a:t>
            </a:r>
            <a:r>
              <a:rPr lang="en-US" b="1" dirty="0" err="1"/>
              <a:t>watsonx</a:t>
            </a:r>
            <a:r>
              <a:rPr lang="en-US" b="1" dirty="0"/>
              <a:t> Orchestrate, IBM watsonx.ai, and Granite Models</a:t>
            </a:r>
            <a:r>
              <a:rPr lang="en-US" dirty="0"/>
              <a:t> to provide personalized, real-time guidance for informal merchants. The system addresses challenges in accessing micro-loans, setting up digital payments, and improving local search visibility through an intelligent, modular architecture.</a:t>
            </a:r>
          </a:p>
          <a:p>
            <a:pPr fontAlgn="base"/>
            <a:r>
              <a:rPr lang="en-US" dirty="0"/>
              <a:t>At its core, the solution uses a </a:t>
            </a:r>
            <a:r>
              <a:rPr lang="en-US" b="1" dirty="0"/>
              <a:t>Retrieval-Augmented Generation (RAG)</a:t>
            </a:r>
            <a:r>
              <a:rPr lang="en-US" dirty="0"/>
              <a:t> pipeline to fetch accurate policy data from trusted sources such as PM </a:t>
            </a:r>
            <a:r>
              <a:rPr lang="en-US" dirty="0" err="1"/>
              <a:t>SVANidhi</a:t>
            </a:r>
            <a:r>
              <a:rPr lang="en-US" dirty="0"/>
              <a:t> guidelines and fintech documentation. This data is embedded and stored in a vector database, enabling the system to retrieve and summarize complex bureaucratic and financial details (eligibility criteria, KYC steps, loan tranches) using Granite models.</a:t>
            </a:r>
          </a:p>
          <a:p>
            <a:pPr fontAlgn="base"/>
            <a:r>
              <a:rPr lang="en-US" dirty="0"/>
              <a:t>The system consists of four key agents:</a:t>
            </a:r>
          </a:p>
          <a:p>
            <a:pPr marL="285750" indent="-285750" fontAlgn="base">
              <a:buFont typeface="Arial" panose="020B0604020202020204" pitchFamily="34" charset="0"/>
              <a:buChar char="•"/>
            </a:pPr>
            <a:r>
              <a:rPr lang="en-US" dirty="0"/>
              <a:t> </a:t>
            </a:r>
            <a:r>
              <a:rPr lang="en-US" b="1" dirty="0"/>
              <a:t>Scheme Navigator Agent</a:t>
            </a:r>
            <a:r>
              <a:rPr lang="en-US" dirty="0"/>
              <a:t> retrieves and summarizes government micro-loan policy frameworks and application requirements.</a:t>
            </a:r>
          </a:p>
          <a:p>
            <a:pPr marL="285750" indent="-285750" fontAlgn="base">
              <a:buFont typeface="Arial" panose="020B0604020202020204" pitchFamily="34" charset="0"/>
              <a:buChar char="•"/>
            </a:pPr>
            <a:r>
              <a:rPr lang="en-US" dirty="0"/>
              <a:t> </a:t>
            </a:r>
            <a:r>
              <a:rPr lang="en-US" b="1" dirty="0"/>
              <a:t>Digital Payment </a:t>
            </a:r>
            <a:r>
              <a:rPr lang="en-US" b="1" dirty="0" err="1"/>
              <a:t>Onboarder</a:t>
            </a:r>
            <a:r>
              <a:rPr lang="en-US" b="1" dirty="0"/>
              <a:t> Agent</a:t>
            </a:r>
            <a:r>
              <a:rPr lang="en-US" dirty="0"/>
              <a:t> provides jargon-free walkthroughs for establishing merchant UPI accounts, QR code standees, and e-KYC verification.</a:t>
            </a:r>
          </a:p>
          <a:p>
            <a:pPr marL="285750" indent="-285750" fontAlgn="base">
              <a:buFont typeface="Arial" panose="020B0604020202020204" pitchFamily="34" charset="0"/>
              <a:buChar char="•"/>
            </a:pPr>
            <a:r>
              <a:rPr lang="en-US" b="1" dirty="0"/>
              <a:t>Hyperlocal Geolocation Agent</a:t>
            </a:r>
            <a:r>
              <a:rPr lang="en-US" dirty="0"/>
              <a:t> guides map-pinning strategies and regional search optimizations to increase physical foot traffic to the vendor's stall.</a:t>
            </a:r>
          </a:p>
          <a:p>
            <a:pPr marL="285750" indent="-285750" fontAlgn="base">
              <a:buFont typeface="Arial" panose="020B0604020202020204" pitchFamily="34" charset="0"/>
              <a:buChar char="•"/>
            </a:pPr>
            <a:r>
              <a:rPr lang="en-US" dirty="0"/>
              <a:t> </a:t>
            </a:r>
            <a:r>
              <a:rPr lang="en-US" b="1" dirty="0"/>
              <a:t>Dialogue Controller Agent </a:t>
            </a:r>
            <a:r>
              <a:rPr lang="en-US" dirty="0"/>
              <a:t>reformats dense outputs into simplified, mobile-friendly checklists tailored for non-technical users.</a:t>
            </a:r>
          </a:p>
          <a:p>
            <a:pPr fontAlgn="base"/>
            <a:r>
              <a:rPr lang="en-US" dirty="0"/>
              <a:t>The solution includes a </a:t>
            </a:r>
            <a:r>
              <a:rPr lang="en-US" b="1" dirty="0"/>
              <a:t>user-friendly web interface </a:t>
            </a:r>
            <a:r>
              <a:rPr lang="en-US" dirty="0"/>
              <a:t>(built with an embedded HTML/JS chat widget) that provides zero-friction access directly on smartphone browsers, requiring no app downloads or secure logins.</a:t>
            </a:r>
          </a:p>
          <a:p>
            <a:pPr fontAlgn="base"/>
            <a:r>
              <a:rPr lang="en-US" b="1" dirty="0"/>
              <a:t>IBM </a:t>
            </a:r>
            <a:r>
              <a:rPr lang="en-US" b="1" dirty="0" err="1"/>
              <a:t>watsonx</a:t>
            </a:r>
            <a:r>
              <a:rPr lang="en-US" b="1" dirty="0"/>
              <a:t> Orchestrate </a:t>
            </a:r>
            <a:r>
              <a:rPr lang="en-US" dirty="0"/>
              <a:t>is used to build and manage the agent workflows, while </a:t>
            </a:r>
            <a:r>
              <a:rPr lang="en-US" b="1" dirty="0"/>
              <a:t>watsonx.ai</a:t>
            </a:r>
            <a:r>
              <a:rPr lang="en-US" dirty="0"/>
              <a:t> ensures scalable model deployment, embeddings, and AI governance. </a:t>
            </a:r>
            <a:r>
              <a:rPr lang="en-US" b="1" dirty="0"/>
              <a:t>Granite models </a:t>
            </a:r>
            <a:r>
              <a:rPr lang="en-US" dirty="0"/>
              <a:t>power the reasoning, summarization, and empathetic peer-to-peer personalization.</a:t>
            </a:r>
          </a:p>
          <a:p>
            <a:pPr fontAlgn="base"/>
            <a:r>
              <a:rPr lang="en-US" dirty="0"/>
              <a:t>Overall, this solution delivers an </a:t>
            </a:r>
            <a:r>
              <a:rPr lang="en-US" b="1" dirty="0"/>
              <a:t>end-to-end intelligent digital consultant </a:t>
            </a:r>
            <a:r>
              <a:rPr lang="en-US" dirty="0"/>
              <a:t>that promotes financial inclusion and economic growth for street vendors through localized insights, step-by-step technical guidance, and accessible technology.</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FC08D550-9491-6A42-8ADC-C4B2B1A2FD59}"/>
              </a:ext>
            </a:extLst>
          </p:cNvPr>
          <p:cNvPicPr>
            <a:picLocks noChangeAspect="1"/>
          </p:cNvPicPr>
          <p:nvPr/>
        </p:nvPicPr>
        <p:blipFill>
          <a:blip r:embed="rId3"/>
          <a:stretch>
            <a:fillRect/>
          </a:stretch>
        </p:blipFill>
        <p:spPr>
          <a:xfrm>
            <a:off x="352425" y="676275"/>
            <a:ext cx="11153775" cy="5981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539430"/>
          </a:xfrm>
          <a:prstGeom prst="rect">
            <a:avLst/>
          </a:prstGeom>
          <a:noFill/>
        </p:spPr>
        <p:txBody>
          <a:bodyPr wrap="square" rtlCol="0">
            <a:spAutoFit/>
          </a:bodyPr>
          <a:lstStyle/>
          <a:p>
            <a:r>
              <a:rPr lang="en-US" b="1" dirty="0"/>
              <a:t>Role of Agentic AI in Street Vendor Digitalization Agent</a:t>
            </a:r>
          </a:p>
          <a:p>
            <a:r>
              <a:rPr lang="en-US" dirty="0"/>
              <a:t>Agentic AI enables the Street Vendor Digitalization Agent to function as an intelligent, autonomous system rather than a simple chatbot. Using </a:t>
            </a:r>
            <a:r>
              <a:rPr lang="en-US" b="1" dirty="0"/>
              <a:t>IBM </a:t>
            </a:r>
            <a:r>
              <a:rPr lang="en-US" b="1" dirty="0" err="1"/>
              <a:t>watsonx</a:t>
            </a:r>
            <a:r>
              <a:rPr lang="en-US" b="1" dirty="0"/>
              <a:t> Orchestrate </a:t>
            </a:r>
            <a:r>
              <a:rPr lang="en-US" dirty="0"/>
              <a:t>and </a:t>
            </a:r>
            <a:r>
              <a:rPr lang="en-US" b="1" dirty="0"/>
              <a:t>IBM Granite models</a:t>
            </a:r>
            <a:r>
              <a:rPr lang="en-US" dirty="0"/>
              <a:t>, it coordinates multiple specialized agents to deliver personalized business and financial guidance. Each agent performs a specific role—such as retrieving government scheme data, generating step-by-step payment setups, providing map optimization advice, and formatting accessible lists—while working collaboratively. This </a:t>
            </a:r>
            <a:r>
              <a:rPr lang="en-US" b="1" dirty="0"/>
              <a:t>multi-agent approach </a:t>
            </a:r>
            <a:r>
              <a:rPr lang="en-US" dirty="0"/>
              <a:t>ensures efficient task execution and accurate results.</a:t>
            </a:r>
          </a:p>
          <a:p>
            <a:r>
              <a:rPr lang="en-US" dirty="0"/>
              <a:t>Agentic AI also brings </a:t>
            </a:r>
            <a:r>
              <a:rPr lang="en-US" b="1" dirty="0"/>
              <a:t>context awareness</a:t>
            </a:r>
            <a:r>
              <a:rPr lang="en-US" dirty="0"/>
              <a:t>, understanding user details like vendor location, business category, and financial requirements to generate tailored recommendations. It supports </a:t>
            </a:r>
            <a:r>
              <a:rPr lang="en-US" b="1" dirty="0"/>
              <a:t>real-time adaptation</a:t>
            </a:r>
            <a:r>
              <a:rPr lang="en-US" dirty="0"/>
              <a:t>, continuously updating suggestions based on user inputs like document availability or mapping status. Additionally, agents communicate with each other, enabling better decision-making and improved outcomes.</a:t>
            </a:r>
          </a:p>
          <a:p>
            <a:r>
              <a:rPr lang="en-US" dirty="0"/>
              <a:t>Overall, Agentic AI makes the system proactive, personalized, and goal-driven, acting like a </a:t>
            </a:r>
            <a:r>
              <a:rPr lang="en-US" b="1" dirty="0"/>
              <a:t>smart digital consultant </a:t>
            </a:r>
            <a:r>
              <a:rPr lang="en-US" dirty="0"/>
              <a:t>that helps micro-entrepreneurs thrive in the modern digital economy.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323987"/>
          </a:xfrm>
          <a:prstGeom prst="rect">
            <a:avLst/>
          </a:prstGeom>
          <a:noFill/>
        </p:spPr>
        <p:txBody>
          <a:bodyPr wrap="square" rtlCol="0">
            <a:spAutoFit/>
          </a:bodyPr>
          <a:lstStyle/>
          <a:p>
            <a:pPr marL="285750" indent="-285750">
              <a:buFont typeface="Arial" panose="020B0604020202020204" pitchFamily="34" charset="0"/>
              <a:buChar char="•"/>
            </a:pPr>
            <a:r>
              <a:rPr lang="en-IN" b="1" dirty="0"/>
              <a:t>IBM </a:t>
            </a:r>
            <a:r>
              <a:rPr lang="en-IN" b="1" dirty="0" err="1"/>
              <a:t>watsonx</a:t>
            </a:r>
            <a:r>
              <a:rPr lang="en-IN" b="1" dirty="0"/>
              <a:t> Orchestrate </a:t>
            </a:r>
            <a:r>
              <a:rPr lang="en-IN" dirty="0"/>
              <a:t>– For designing and orchestrating multi-agent workflows visually without complex coding.</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IBM Granite models </a:t>
            </a:r>
            <a:r>
              <a:rPr lang="en-IN" dirty="0"/>
              <a:t>– For natural language understanding, reasoning, and providing accessible, personalized guidance for vendors.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IBM Cloud </a:t>
            </a:r>
            <a:r>
              <a:rPr lang="en-IN" dirty="0"/>
              <a:t>– It provides the infrastructure to build, deploy, and scale the Digitalization Agent efficiently. IBM Cloud enables a reliable, secure, and scalable environment for deploying the agent to the public.</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RAG</a:t>
            </a:r>
            <a:r>
              <a:rPr lang="en-IN" dirty="0"/>
              <a:t> – RAG to fetch real policy data first, then generate intelligent answers, making the Digitalization Agent more trustworthy and factually accurate regarding government schemes and financial procedures.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IBM watsonx.ai </a:t>
            </a:r>
            <a:r>
              <a:rPr lang="en-IN" dirty="0"/>
              <a:t>– For model deployment, embeddings, and AI governance.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Vector Database </a:t>
            </a:r>
            <a:r>
              <a:rPr lang="en-IN" dirty="0"/>
              <a:t>– For RAG-based retrieval of unstructured financial guidelines, KYC requirements, and municipal policy documents.        </a:t>
            </a:r>
          </a:p>
        </p:txBody>
      </p:sp>
    </p:spTree>
    <p:extLst>
      <p:ext uri="{BB962C8B-B14F-4D97-AF65-F5344CB8AC3E}">
        <p14:creationId xmlns:p14="http://schemas.microsoft.com/office/powerpoint/2010/main" val="3764405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47536"/>
          </a:xfrm>
          <a:prstGeom prst="rect">
            <a:avLst/>
          </a:prstGeom>
          <a:noFill/>
        </p:spPr>
        <p:txBody>
          <a:bodyPr wrap="square" rtlCol="0">
            <a:spAutoFit/>
          </a:bodyPr>
          <a:lstStyle/>
          <a:p>
            <a:r>
              <a:rPr lang="en-US" dirty="0"/>
              <a:t>The proposed Street Vendor Digitalization Agent stands out by combining </a:t>
            </a:r>
            <a:r>
              <a:rPr lang="en-US" b="1" dirty="0"/>
              <a:t>Agentic AI, RAG, and hyperlocal personalization</a:t>
            </a:r>
            <a:r>
              <a:rPr lang="en-US" dirty="0"/>
              <a:t> into a single intelligent system.</a:t>
            </a:r>
          </a:p>
          <a:p>
            <a:endParaRPr lang="en-US" dirty="0"/>
          </a:p>
          <a:p>
            <a:pPr marL="285750" indent="-285750">
              <a:buFont typeface="Arial" panose="020B0604020202020204" pitchFamily="34" charset="0"/>
              <a:buChar char="•"/>
            </a:pPr>
            <a:r>
              <a:rPr lang="en-US" b="1" dirty="0"/>
              <a:t> Multi-Agent Intelligence </a:t>
            </a:r>
            <a:r>
              <a:rPr lang="en-US" dirty="0"/>
              <a:t>– Instead of a single chatbot, multiple specialized agents collaborate to deliver accurate and context-aware financial and digital onboarding guidance.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b="1" dirty="0"/>
              <a:t>RAG-Based Accuracy </a:t>
            </a:r>
            <a:r>
              <a:rPr lang="en-US" dirty="0"/>
              <a:t>– Integrates real-time policy retrieval with AI generation, reducing misinformation and ensuring trustworthy recommendations for schemes like PM </a:t>
            </a:r>
            <a:r>
              <a:rPr lang="en-US" dirty="0" err="1"/>
              <a:t>SVANidhi</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b="1" dirty="0"/>
              <a:t>Hyper-Personalization</a:t>
            </a:r>
            <a:r>
              <a:rPr lang="en-US" dirty="0"/>
              <a:t> – Tailors business strategies and step-by-step guidance based on the vendor's specific location, trade type, and financial needs.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b="1" dirty="0"/>
              <a:t>Real-Time Feedback Loop</a:t>
            </a:r>
            <a:r>
              <a:rPr lang="en-US" dirty="0"/>
              <a:t> – Continuously adapts recommendations based on user responses, document availability, and onboarding progress.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b="1" dirty="0"/>
              <a:t>Zero-Friction Accessibility </a:t>
            </a:r>
            <a:r>
              <a:rPr lang="en-US" dirty="0"/>
              <a:t>– Optimized for simple smartphone browsers, requiring no app downloads, making it highly usable for non-technical users.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b="1" dirty="0"/>
              <a:t>Economic Empowerment Focus </a:t>
            </a:r>
            <a:r>
              <a:rPr lang="en-US" dirty="0"/>
              <a:t>– Goes beyond simple queries to actively drive digital payment adoption, e-KYC compliance, and mapping visibility.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r>
              <a:rPr lang="en-US" b="1" dirty="0"/>
              <a:t>Scalable &amp; Enterprise-Ready </a:t>
            </a:r>
            <a:r>
              <a:rPr lang="en-US" dirty="0"/>
              <a:t>– Built on </a:t>
            </a:r>
            <a:r>
              <a:rPr lang="en-US" b="1" dirty="0"/>
              <a:t>IBM </a:t>
            </a:r>
            <a:r>
              <a:rPr lang="en-US" b="1" dirty="0" err="1"/>
              <a:t>watsonx</a:t>
            </a:r>
            <a:r>
              <a:rPr lang="en-US" b="1" dirty="0"/>
              <a:t> Orchestrate </a:t>
            </a:r>
            <a:r>
              <a:rPr lang="en-US" dirty="0"/>
              <a:t>and </a:t>
            </a:r>
            <a:r>
              <a:rPr lang="en-US" b="1" dirty="0"/>
              <a:t>watsonx.ai </a:t>
            </a:r>
            <a:r>
              <a:rPr lang="en-US" dirty="0"/>
              <a:t>with </a:t>
            </a:r>
            <a:r>
              <a:rPr lang="en-US" b="1" dirty="0"/>
              <a:t>IBM</a:t>
            </a:r>
            <a:r>
              <a:rPr lang="en-US" dirty="0"/>
              <a:t> </a:t>
            </a:r>
            <a:r>
              <a:rPr lang="en-US" b="1" dirty="0"/>
              <a:t>Granite models</a:t>
            </a:r>
            <a:r>
              <a:rPr lang="en-US" dirty="0"/>
              <a:t>, ensuring reliability and governance.</a:t>
            </a:r>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5341010"/>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1" dirty="0">
                <a:latin typeface="Times New Roman"/>
                <a:ea typeface="Times New Roman"/>
                <a:cs typeface="Times New Roman"/>
                <a:sym typeface="Times New Roman"/>
              </a:rPr>
              <a:t>1. Integration with Payment Soundboxes &amp; mPOS Devices –</a:t>
            </a:r>
          </a:p>
          <a:p>
            <a:pPr lvl="0">
              <a:lnSpc>
                <a:spcPct val="162162"/>
              </a:lnSpc>
              <a:buClr>
                <a:srgbClr val="2B3541"/>
              </a:buClr>
              <a:buSzPts val="1850"/>
            </a:pPr>
            <a:r>
              <a:rPr lang="en-US" sz="1850" dirty="0">
                <a:latin typeface="Times New Roman"/>
                <a:ea typeface="Times New Roman"/>
                <a:cs typeface="Times New Roman"/>
                <a:sym typeface="Times New Roman"/>
              </a:rPr>
              <a:t>The system can be integrated with digital payment soundboxes (e.g., Paytm, </a:t>
            </a:r>
            <a:r>
              <a:rPr lang="en-US" sz="1850" dirty="0" err="1">
                <a:latin typeface="Times New Roman"/>
                <a:ea typeface="Times New Roman"/>
                <a:cs typeface="Times New Roman"/>
                <a:sym typeface="Times New Roman"/>
              </a:rPr>
              <a:t>PhonePe</a:t>
            </a:r>
            <a:r>
              <a:rPr lang="en-US" sz="1850" dirty="0">
                <a:latin typeface="Times New Roman"/>
                <a:ea typeface="Times New Roman"/>
                <a:cs typeface="Times New Roman"/>
                <a:sym typeface="Times New Roman"/>
              </a:rPr>
              <a:t>) and mobile Point-of-Sale (mPOS) applications to collect real-time transaction data. This will enable the Digitalization Agent to provide dynamic credit-building advice and accurately assess vendor eligibility for advanced PM </a:t>
            </a:r>
            <a:r>
              <a:rPr lang="en-US" sz="1850" dirty="0" err="1">
                <a:latin typeface="Times New Roman"/>
                <a:ea typeface="Times New Roman"/>
                <a:cs typeface="Times New Roman"/>
                <a:sym typeface="Times New Roman"/>
              </a:rPr>
              <a:t>SVANidhi</a:t>
            </a:r>
            <a:r>
              <a:rPr lang="en-US" sz="1850" dirty="0">
                <a:latin typeface="Times New Roman"/>
                <a:ea typeface="Times New Roman"/>
                <a:cs typeface="Times New Roman"/>
                <a:sym typeface="Times New Roman"/>
              </a:rPr>
              <a:t> loan tranches based on actual daily sales metrics.</a:t>
            </a:r>
          </a:p>
          <a:p>
            <a:pPr lvl="0">
              <a:lnSpc>
                <a:spcPct val="162162"/>
              </a:lnSpc>
              <a:buClr>
                <a:srgbClr val="2B3541"/>
              </a:buClr>
              <a:buSzPts val="1850"/>
            </a:pPr>
            <a:endParaRPr lang="en-US" sz="1850" dirty="0">
              <a:latin typeface="Times New Roman"/>
              <a:ea typeface="Times New Roman"/>
              <a:cs typeface="Times New Roman"/>
              <a:sym typeface="Times New Roman"/>
            </a:endParaRPr>
          </a:p>
          <a:p>
            <a:pPr lvl="0">
              <a:lnSpc>
                <a:spcPct val="162162"/>
              </a:lnSpc>
              <a:buClr>
                <a:srgbClr val="2B3541"/>
              </a:buClr>
              <a:buSzPts val="1850"/>
            </a:pPr>
            <a:r>
              <a:rPr lang="en-US" sz="1850" b="1" dirty="0">
                <a:latin typeface="Times New Roman"/>
                <a:ea typeface="Times New Roman"/>
                <a:cs typeface="Times New Roman"/>
                <a:sym typeface="Times New Roman"/>
              </a:rPr>
              <a:t>2. AI-Powered Voice Assistant &amp; Multilingual Support –</a:t>
            </a:r>
          </a:p>
          <a:p>
            <a:pPr lvl="0">
              <a:lnSpc>
                <a:spcPct val="162162"/>
              </a:lnSpc>
              <a:buClr>
                <a:srgbClr val="2B3541"/>
              </a:buClr>
              <a:buSzPts val="1850"/>
            </a:pPr>
            <a:r>
              <a:rPr lang="en-US" sz="1850" dirty="0">
                <a:latin typeface="Times New Roman"/>
                <a:ea typeface="Times New Roman"/>
                <a:cs typeface="Times New Roman"/>
                <a:sym typeface="Times New Roman"/>
              </a:rPr>
              <a:t>Enhancing the system with a voice-enabled assistant and support for multiple regional languages will significantly improve accessibility. Vendors can interact naturally using spoken audio in their preferred language, making the solution highly inclusive and suitable for informal business owners who may face barriers with typing or digital literacy.</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1232</TotalTime>
  <Words>1318</Words>
  <Application>Microsoft Office PowerPoint</Application>
  <PresentationFormat>Widescreen</PresentationFormat>
  <Paragraphs>95</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sweetie sushma</cp:lastModifiedBy>
  <cp:revision>23</cp:revision>
  <dcterms:created xsi:type="dcterms:W3CDTF">2025-07-08T05:06:56Z</dcterms:created>
  <dcterms:modified xsi:type="dcterms:W3CDTF">2026-06-03T13:03:57Z</dcterms:modified>
</cp:coreProperties>
</file>